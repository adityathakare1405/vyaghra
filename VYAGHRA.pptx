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nva Sans Bold" panose="020B0604020202020204" charset="0"/>
      <p:regular r:id="rId10"/>
    </p:embeddedFont>
    <p:embeddedFont>
      <p:font typeface="Horizon" panose="020B0604020202020204" charset="0"/>
      <p:regular r:id="rId11"/>
    </p:embeddedFont>
    <p:embeddedFont>
      <p:font typeface="Oswald" panose="00000500000000000000" pitchFamily="2" charset="0"/>
      <p:regular r:id="rId12"/>
    </p:embeddedFont>
    <p:embeddedFont>
      <p:font typeface="Oswald Bold" panose="020B0604020202020204" charset="0"/>
      <p:regular r:id="rId13"/>
    </p:embeddedFont>
    <p:embeddedFont>
      <p:font typeface="Times New Roman Bold" panose="02020803070505020304" pitchFamily="18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7828" y="2121337"/>
            <a:ext cx="15544800" cy="823951"/>
            <a:chOff x="0" y="0"/>
            <a:chExt cx="20726400" cy="10986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726400" cy="1098600"/>
            </a:xfrm>
            <a:custGeom>
              <a:avLst/>
              <a:gdLst/>
              <a:ahLst/>
              <a:cxnLst/>
              <a:rect l="l" t="t" r="r" b="b"/>
              <a:pathLst>
                <a:path w="20726400" h="1098600">
                  <a:moveTo>
                    <a:pt x="0" y="0"/>
                  </a:moveTo>
                  <a:lnTo>
                    <a:pt x="20726400" y="0"/>
                  </a:lnTo>
                  <a:lnTo>
                    <a:pt x="20726400" y="1098600"/>
                  </a:lnTo>
                  <a:lnTo>
                    <a:pt x="0" y="1098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7608" b="-31760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0726400" cy="11271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FF99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VIKASIT NAGPUR HACKATHON 2026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448" y="0"/>
            <a:ext cx="2552519" cy="2306174"/>
            <a:chOff x="0" y="0"/>
            <a:chExt cx="3403359" cy="30748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03346" cy="3074924"/>
            </a:xfrm>
            <a:custGeom>
              <a:avLst/>
              <a:gdLst/>
              <a:ahLst/>
              <a:cxnLst/>
              <a:rect l="l" t="t" r="r" b="b"/>
              <a:pathLst>
                <a:path w="3403346" h="3074924">
                  <a:moveTo>
                    <a:pt x="0" y="0"/>
                  </a:moveTo>
                  <a:lnTo>
                    <a:pt x="3403346" y="0"/>
                  </a:lnTo>
                  <a:lnTo>
                    <a:pt x="3403346" y="3074924"/>
                  </a:lnTo>
                  <a:lnTo>
                    <a:pt x="0" y="3074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4694082" y="184837"/>
            <a:ext cx="8972293" cy="1936499"/>
            <a:chOff x="0" y="0"/>
            <a:chExt cx="11963057" cy="258199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963019" cy="2582037"/>
            </a:xfrm>
            <a:custGeom>
              <a:avLst/>
              <a:gdLst/>
              <a:ahLst/>
              <a:cxnLst/>
              <a:rect l="l" t="t" r="r" b="b"/>
              <a:pathLst>
                <a:path w="11963019" h="2582037">
                  <a:moveTo>
                    <a:pt x="0" y="0"/>
                  </a:moveTo>
                  <a:lnTo>
                    <a:pt x="11963019" y="0"/>
                  </a:lnTo>
                  <a:lnTo>
                    <a:pt x="11963019" y="2582037"/>
                  </a:lnTo>
                  <a:lnTo>
                    <a:pt x="0" y="2582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2620" b="-22618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189272" y="7947898"/>
            <a:ext cx="15609265" cy="2027739"/>
            <a:chOff x="0" y="0"/>
            <a:chExt cx="20812354" cy="27036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812379" cy="2703703"/>
            </a:xfrm>
            <a:custGeom>
              <a:avLst/>
              <a:gdLst/>
              <a:ahLst/>
              <a:cxnLst/>
              <a:rect l="l" t="t" r="r" b="b"/>
              <a:pathLst>
                <a:path w="20812379" h="2703703">
                  <a:moveTo>
                    <a:pt x="0" y="0"/>
                  </a:moveTo>
                  <a:lnTo>
                    <a:pt x="20812379" y="0"/>
                  </a:lnTo>
                  <a:lnTo>
                    <a:pt x="20812379" y="2703703"/>
                  </a:lnTo>
                  <a:lnTo>
                    <a:pt x="0" y="2703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89" b="-56812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589786" y="4894898"/>
            <a:ext cx="17180885" cy="844488"/>
            <a:chOff x="0" y="0"/>
            <a:chExt cx="4525007" cy="22241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25007" cy="222417"/>
            </a:xfrm>
            <a:custGeom>
              <a:avLst/>
              <a:gdLst/>
              <a:ahLst/>
              <a:cxnLst/>
              <a:rect l="l" t="t" r="r" b="b"/>
              <a:pathLst>
                <a:path w="4525007" h="222417">
                  <a:moveTo>
                    <a:pt x="22981" y="0"/>
                  </a:moveTo>
                  <a:lnTo>
                    <a:pt x="4502026" y="0"/>
                  </a:lnTo>
                  <a:cubicBezTo>
                    <a:pt x="4514718" y="0"/>
                    <a:pt x="4525007" y="10289"/>
                    <a:pt x="4525007" y="22981"/>
                  </a:cubicBezTo>
                  <a:lnTo>
                    <a:pt x="4525007" y="199435"/>
                  </a:lnTo>
                  <a:cubicBezTo>
                    <a:pt x="4525007" y="212128"/>
                    <a:pt x="4514718" y="222417"/>
                    <a:pt x="4502026" y="222417"/>
                  </a:cubicBezTo>
                  <a:lnTo>
                    <a:pt x="22981" y="222417"/>
                  </a:lnTo>
                  <a:cubicBezTo>
                    <a:pt x="16886" y="222417"/>
                    <a:pt x="11041" y="219995"/>
                    <a:pt x="6731" y="215686"/>
                  </a:cubicBezTo>
                  <a:cubicBezTo>
                    <a:pt x="2421" y="211376"/>
                    <a:pt x="0" y="205530"/>
                    <a:pt x="0" y="199435"/>
                  </a:cubicBezTo>
                  <a:lnTo>
                    <a:pt x="0" y="22981"/>
                  </a:lnTo>
                  <a:cubicBezTo>
                    <a:pt x="0" y="10289"/>
                    <a:pt x="10289" y="0"/>
                    <a:pt x="22981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4525007" cy="222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565809" y="5910837"/>
            <a:ext cx="11549351" cy="1649508"/>
            <a:chOff x="0" y="0"/>
            <a:chExt cx="15399134" cy="2199345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5399134" cy="2199345"/>
              <a:chOff x="0" y="0"/>
              <a:chExt cx="4268232" cy="6096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268232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268232" h="609600">
                    <a:moveTo>
                      <a:pt x="203200" y="0"/>
                    </a:moveTo>
                    <a:lnTo>
                      <a:pt x="4065032" y="0"/>
                    </a:lnTo>
                    <a:lnTo>
                      <a:pt x="4268232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7000" y="0"/>
                <a:ext cx="4014232" cy="60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691311" y="226343"/>
              <a:ext cx="6740878" cy="16133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20"/>
                </a:lnSpc>
              </a:pPr>
              <a:r>
                <a:rPr lang="en-US" sz="7300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VYAGHRA -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99567" y="172572"/>
              <a:ext cx="7231312" cy="1854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19"/>
                </a:lnSpc>
                <a:spcBef>
                  <a:spcPct val="0"/>
                </a:spcBef>
              </a:pPr>
              <a:r>
                <a:rPr lang="en-US" sz="4599" b="1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End-to-End Tiger Movement Intelligence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408043" y="2690626"/>
            <a:ext cx="9463815" cy="1544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458"/>
              </a:lnSpc>
            </a:pPr>
            <a:r>
              <a:rPr lang="en-US" sz="8898" dirty="0">
                <a:solidFill>
                  <a:srgbClr val="087902"/>
                </a:solidFill>
                <a:latin typeface="Horizon"/>
                <a:ea typeface="Horizon"/>
                <a:cs typeface="Horizon"/>
                <a:sym typeface="Horizon"/>
              </a:rPr>
              <a:t>VYAGHRA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1279" y="4062704"/>
            <a:ext cx="17319642" cy="662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--------- Forest &amp; Wildlife ---------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01197" y="5002144"/>
            <a:ext cx="17558034" cy="5638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Automated Camera Trap Triage and Individual Tiger Movement Intelligence System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339299" y="3198658"/>
            <a:ext cx="3927686" cy="1524790"/>
            <a:chOff x="0" y="0"/>
            <a:chExt cx="5236915" cy="2033053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5236915" cy="2033053"/>
              <a:chOff x="0" y="0"/>
              <a:chExt cx="1034452" cy="40159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034452" cy="401591"/>
              </a:xfrm>
              <a:custGeom>
                <a:avLst/>
                <a:gdLst/>
                <a:ahLst/>
                <a:cxnLst/>
                <a:rect l="l" t="t" r="r" b="b"/>
                <a:pathLst>
                  <a:path w="1034452" h="401591">
                    <a:moveTo>
                      <a:pt x="100527" y="0"/>
                    </a:moveTo>
                    <a:lnTo>
                      <a:pt x="933926" y="0"/>
                    </a:lnTo>
                    <a:cubicBezTo>
                      <a:pt x="989445" y="0"/>
                      <a:pt x="1034452" y="45007"/>
                      <a:pt x="1034452" y="100527"/>
                    </a:cubicBezTo>
                    <a:lnTo>
                      <a:pt x="1034452" y="301064"/>
                    </a:lnTo>
                    <a:cubicBezTo>
                      <a:pt x="1034452" y="327725"/>
                      <a:pt x="1023861" y="353295"/>
                      <a:pt x="1005009" y="372147"/>
                    </a:cubicBezTo>
                    <a:cubicBezTo>
                      <a:pt x="986156" y="391000"/>
                      <a:pt x="960587" y="401591"/>
                      <a:pt x="933926" y="401591"/>
                    </a:cubicBezTo>
                    <a:lnTo>
                      <a:pt x="100527" y="401591"/>
                    </a:lnTo>
                    <a:cubicBezTo>
                      <a:pt x="73865" y="401591"/>
                      <a:pt x="48296" y="391000"/>
                      <a:pt x="29444" y="372147"/>
                    </a:cubicBezTo>
                    <a:cubicBezTo>
                      <a:pt x="10591" y="353295"/>
                      <a:pt x="0" y="327725"/>
                      <a:pt x="0" y="301064"/>
                    </a:cubicBezTo>
                    <a:lnTo>
                      <a:pt x="0" y="100527"/>
                    </a:lnTo>
                    <a:cubicBezTo>
                      <a:pt x="0" y="73865"/>
                      <a:pt x="10591" y="48296"/>
                      <a:pt x="29444" y="29444"/>
                    </a:cubicBezTo>
                    <a:cubicBezTo>
                      <a:pt x="48296" y="10591"/>
                      <a:pt x="73865" y="0"/>
                      <a:pt x="1005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0"/>
                <a:ext cx="1034452" cy="4015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429655" y="189210"/>
              <a:ext cx="4377605" cy="16285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28"/>
                </a:lnSpc>
              </a:pPr>
              <a:r>
                <a:rPr lang="en-US" sz="3265">
                  <a:solidFill>
                    <a:srgbClr val="000000"/>
                  </a:solidFill>
                  <a:latin typeface="Oswald"/>
                  <a:ea typeface="Oswald"/>
                  <a:cs typeface="Oswald"/>
                  <a:sym typeface="Oswald"/>
                </a:rPr>
                <a:t>Registration Number: </a:t>
              </a:r>
            </a:p>
            <a:p>
              <a:pPr algn="ctr">
                <a:lnSpc>
                  <a:spcPts val="5028"/>
                </a:lnSpc>
              </a:pPr>
              <a:r>
                <a:rPr lang="en-US" sz="3265">
                  <a:solidFill>
                    <a:srgbClr val="000000"/>
                  </a:solidFill>
                  <a:latin typeface="Oswald"/>
                  <a:ea typeface="Oswald"/>
                  <a:cs typeface="Oswald"/>
                  <a:sym typeface="Oswald"/>
                </a:rPr>
                <a:t>PAR-260808-6567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358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5689600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2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6408001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@SIH Idea submission- Template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53583"/>
            <a:ext cx="1539732" cy="1391131"/>
            <a:chOff x="0" y="0"/>
            <a:chExt cx="3403359" cy="30748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03346" cy="3074924"/>
            </a:xfrm>
            <a:custGeom>
              <a:avLst/>
              <a:gdLst/>
              <a:ahLst/>
              <a:cxnLst/>
              <a:rect l="l" t="t" r="r" b="b"/>
              <a:pathLst>
                <a:path w="3403346" h="3074924">
                  <a:moveTo>
                    <a:pt x="0" y="0"/>
                  </a:moveTo>
                  <a:lnTo>
                    <a:pt x="3403346" y="0"/>
                  </a:lnTo>
                  <a:lnTo>
                    <a:pt x="3403346" y="3074924"/>
                  </a:lnTo>
                  <a:lnTo>
                    <a:pt x="0" y="3074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59" y="0"/>
            <a:ext cx="18278283" cy="10287000"/>
          </a:xfrm>
          <a:custGeom>
            <a:avLst/>
            <a:gdLst/>
            <a:ahLst/>
            <a:cxnLst/>
            <a:rect l="l" t="t" r="r" b="b"/>
            <a:pathLst>
              <a:path w="18278283" h="10287000">
                <a:moveTo>
                  <a:pt x="0" y="0"/>
                </a:moveTo>
                <a:lnTo>
                  <a:pt x="18278282" y="0"/>
                </a:lnTo>
                <a:lnTo>
                  <a:pt x="182782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5689600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3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448" y="0"/>
            <a:ext cx="1255087" cy="1133958"/>
            <a:chOff x="0" y="0"/>
            <a:chExt cx="3403359" cy="30748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03346" cy="3074924"/>
            </a:xfrm>
            <a:custGeom>
              <a:avLst/>
              <a:gdLst/>
              <a:ahLst/>
              <a:cxnLst/>
              <a:rect l="l" t="t" r="r" b="b"/>
              <a:pathLst>
                <a:path w="3403346" h="3074924">
                  <a:moveTo>
                    <a:pt x="0" y="0"/>
                  </a:moveTo>
                  <a:lnTo>
                    <a:pt x="3403346" y="0"/>
                  </a:lnTo>
                  <a:lnTo>
                    <a:pt x="3403346" y="3074924"/>
                  </a:lnTo>
                  <a:lnTo>
                    <a:pt x="0" y="3074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148962" y="794090"/>
            <a:ext cx="8153909" cy="455554"/>
            <a:chOff x="0" y="0"/>
            <a:chExt cx="2147532" cy="11998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47532" cy="119981"/>
            </a:xfrm>
            <a:custGeom>
              <a:avLst/>
              <a:gdLst/>
              <a:ahLst/>
              <a:cxnLst/>
              <a:rect l="l" t="t" r="r" b="b"/>
              <a:pathLst>
                <a:path w="2147532" h="119981">
                  <a:moveTo>
                    <a:pt x="0" y="0"/>
                  </a:moveTo>
                  <a:lnTo>
                    <a:pt x="2147532" y="0"/>
                  </a:lnTo>
                  <a:lnTo>
                    <a:pt x="2147532" y="119981"/>
                  </a:lnTo>
                  <a:lnTo>
                    <a:pt x="0" y="1199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2147532" cy="119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135199" y="1297113"/>
            <a:ext cx="6712144" cy="424754"/>
            <a:chOff x="0" y="0"/>
            <a:chExt cx="1767807" cy="11186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67807" cy="111869"/>
            </a:xfrm>
            <a:custGeom>
              <a:avLst/>
              <a:gdLst/>
              <a:ahLst/>
              <a:cxnLst/>
              <a:rect l="l" t="t" r="r" b="b"/>
              <a:pathLst>
                <a:path w="1767807" h="111869">
                  <a:moveTo>
                    <a:pt x="55935" y="0"/>
                  </a:moveTo>
                  <a:lnTo>
                    <a:pt x="1711873" y="0"/>
                  </a:lnTo>
                  <a:cubicBezTo>
                    <a:pt x="1726708" y="0"/>
                    <a:pt x="1740935" y="5893"/>
                    <a:pt x="1751424" y="16383"/>
                  </a:cubicBezTo>
                  <a:cubicBezTo>
                    <a:pt x="1761914" y="26873"/>
                    <a:pt x="1767807" y="41100"/>
                    <a:pt x="1767807" y="55935"/>
                  </a:cubicBezTo>
                  <a:lnTo>
                    <a:pt x="1767807" y="55935"/>
                  </a:lnTo>
                  <a:cubicBezTo>
                    <a:pt x="1767807" y="70769"/>
                    <a:pt x="1761914" y="84997"/>
                    <a:pt x="1751424" y="95486"/>
                  </a:cubicBezTo>
                  <a:cubicBezTo>
                    <a:pt x="1740935" y="105976"/>
                    <a:pt x="1726708" y="111869"/>
                    <a:pt x="1711873" y="111869"/>
                  </a:cubicBezTo>
                  <a:lnTo>
                    <a:pt x="55935" y="111869"/>
                  </a:lnTo>
                  <a:cubicBezTo>
                    <a:pt x="41100" y="111869"/>
                    <a:pt x="26873" y="105976"/>
                    <a:pt x="16383" y="95486"/>
                  </a:cubicBezTo>
                  <a:cubicBezTo>
                    <a:pt x="5893" y="84997"/>
                    <a:pt x="0" y="70769"/>
                    <a:pt x="0" y="55935"/>
                  </a:cubicBezTo>
                  <a:lnTo>
                    <a:pt x="0" y="55935"/>
                  </a:lnTo>
                  <a:cubicBezTo>
                    <a:pt x="0" y="41100"/>
                    <a:pt x="5893" y="26873"/>
                    <a:pt x="16383" y="16383"/>
                  </a:cubicBezTo>
                  <a:cubicBezTo>
                    <a:pt x="26873" y="5893"/>
                    <a:pt x="41100" y="0"/>
                    <a:pt x="55935" y="0"/>
                  </a:cubicBezTo>
                  <a:close/>
                </a:path>
              </a:pathLst>
            </a:custGeom>
            <a:solidFill>
              <a:srgbClr val="08790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767807" cy="111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7949" y="1297113"/>
            <a:ext cx="7488948" cy="424754"/>
            <a:chOff x="0" y="0"/>
            <a:chExt cx="1972398" cy="11186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72398" cy="111869"/>
            </a:xfrm>
            <a:custGeom>
              <a:avLst/>
              <a:gdLst/>
              <a:ahLst/>
              <a:cxnLst/>
              <a:rect l="l" t="t" r="r" b="b"/>
              <a:pathLst>
                <a:path w="1972398" h="111869">
                  <a:moveTo>
                    <a:pt x="52723" y="0"/>
                  </a:moveTo>
                  <a:lnTo>
                    <a:pt x="1919675" y="0"/>
                  </a:lnTo>
                  <a:cubicBezTo>
                    <a:pt x="1948793" y="0"/>
                    <a:pt x="1972398" y="23605"/>
                    <a:pt x="1972398" y="52723"/>
                  </a:cubicBezTo>
                  <a:lnTo>
                    <a:pt x="1972398" y="59147"/>
                  </a:lnTo>
                  <a:cubicBezTo>
                    <a:pt x="1972398" y="73129"/>
                    <a:pt x="1966843" y="86540"/>
                    <a:pt x="1956956" y="96427"/>
                  </a:cubicBezTo>
                  <a:cubicBezTo>
                    <a:pt x="1947068" y="106315"/>
                    <a:pt x="1933658" y="111869"/>
                    <a:pt x="1919675" y="111869"/>
                  </a:cubicBezTo>
                  <a:lnTo>
                    <a:pt x="52723" y="111869"/>
                  </a:lnTo>
                  <a:cubicBezTo>
                    <a:pt x="23605" y="111869"/>
                    <a:pt x="0" y="88265"/>
                    <a:pt x="0" y="59147"/>
                  </a:cubicBezTo>
                  <a:lnTo>
                    <a:pt x="0" y="52723"/>
                  </a:lnTo>
                  <a:cubicBezTo>
                    <a:pt x="0" y="38740"/>
                    <a:pt x="5555" y="25330"/>
                    <a:pt x="15442" y="15442"/>
                  </a:cubicBezTo>
                  <a:cubicBezTo>
                    <a:pt x="25330" y="5555"/>
                    <a:pt x="38740" y="0"/>
                    <a:pt x="52723" y="0"/>
                  </a:cubicBez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1972398" cy="111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645724" y="1283624"/>
            <a:ext cx="3233398" cy="41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2"/>
              </a:lnSpc>
            </a:pPr>
            <a:r>
              <a:rPr lang="en-US" sz="246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INGESTION → TRIAGE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14538" y="1283624"/>
            <a:ext cx="3908786" cy="41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2"/>
              </a:lnSpc>
            </a:pPr>
            <a:r>
              <a:rPr lang="en-US" sz="246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OCCUPANCY &amp; ALERTING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5689600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4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6408001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@SIH Idea submission- Template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660050" y="0"/>
            <a:ext cx="15430500" cy="10287000"/>
          </a:xfrm>
          <a:custGeom>
            <a:avLst/>
            <a:gdLst/>
            <a:ahLst/>
            <a:cxnLst/>
            <a:rect l="l" t="t" r="r" b="b"/>
            <a:pathLst>
              <a:path w="15430500" h="102870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344457" cy="1214703"/>
            <a:chOff x="0" y="0"/>
            <a:chExt cx="3403359" cy="30748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03346" cy="3074924"/>
            </a:xfrm>
            <a:custGeom>
              <a:avLst/>
              <a:gdLst/>
              <a:ahLst/>
              <a:cxnLst/>
              <a:rect l="l" t="t" r="r" b="b"/>
              <a:pathLst>
                <a:path w="3403346" h="3074924">
                  <a:moveTo>
                    <a:pt x="0" y="0"/>
                  </a:moveTo>
                  <a:lnTo>
                    <a:pt x="3403346" y="0"/>
                  </a:lnTo>
                  <a:lnTo>
                    <a:pt x="3403346" y="3074924"/>
                  </a:lnTo>
                  <a:lnTo>
                    <a:pt x="0" y="3074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660050" y="14531"/>
            <a:ext cx="1636731" cy="1014169"/>
            <a:chOff x="0" y="0"/>
            <a:chExt cx="431073" cy="26710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31073" cy="267106"/>
            </a:xfrm>
            <a:custGeom>
              <a:avLst/>
              <a:gdLst/>
              <a:ahLst/>
              <a:cxnLst/>
              <a:rect l="l" t="t" r="r" b="b"/>
              <a:pathLst>
                <a:path w="431073" h="267106">
                  <a:moveTo>
                    <a:pt x="0" y="0"/>
                  </a:moveTo>
                  <a:lnTo>
                    <a:pt x="431073" y="0"/>
                  </a:lnTo>
                  <a:lnTo>
                    <a:pt x="431073" y="267106"/>
                  </a:lnTo>
                  <a:lnTo>
                    <a:pt x="0" y="2671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431073" cy="267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48" y="14531"/>
            <a:ext cx="1396192" cy="1014169"/>
            <a:chOff x="0" y="0"/>
            <a:chExt cx="367721" cy="2671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7721" cy="267106"/>
            </a:xfrm>
            <a:custGeom>
              <a:avLst/>
              <a:gdLst/>
              <a:ahLst/>
              <a:cxnLst/>
              <a:rect l="l" t="t" r="r" b="b"/>
              <a:pathLst>
                <a:path w="367721" h="267106">
                  <a:moveTo>
                    <a:pt x="0" y="0"/>
                  </a:moveTo>
                  <a:lnTo>
                    <a:pt x="367721" y="0"/>
                  </a:lnTo>
                  <a:lnTo>
                    <a:pt x="367721" y="267106"/>
                  </a:lnTo>
                  <a:lnTo>
                    <a:pt x="0" y="2671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67721" cy="267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5689600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6408001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@SIH Idea submission- Template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30061" y="14184"/>
            <a:ext cx="18253080" cy="10272816"/>
          </a:xfrm>
          <a:custGeom>
            <a:avLst/>
            <a:gdLst/>
            <a:ahLst/>
            <a:cxnLst/>
            <a:rect l="l" t="t" r="r" b="b"/>
            <a:pathLst>
              <a:path w="18253080" h="10272816">
                <a:moveTo>
                  <a:pt x="0" y="0"/>
                </a:moveTo>
                <a:lnTo>
                  <a:pt x="18253080" y="0"/>
                </a:lnTo>
                <a:lnTo>
                  <a:pt x="18253080" y="10272816"/>
                </a:lnTo>
                <a:lnTo>
                  <a:pt x="0" y="102728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30061" y="14531"/>
            <a:ext cx="1362682" cy="1014169"/>
            <a:chOff x="0" y="0"/>
            <a:chExt cx="358896" cy="2671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58896" cy="267106"/>
            </a:xfrm>
            <a:custGeom>
              <a:avLst/>
              <a:gdLst/>
              <a:ahLst/>
              <a:cxnLst/>
              <a:rect l="l" t="t" r="r" b="b"/>
              <a:pathLst>
                <a:path w="358896" h="267106">
                  <a:moveTo>
                    <a:pt x="0" y="0"/>
                  </a:moveTo>
                  <a:lnTo>
                    <a:pt x="358896" y="0"/>
                  </a:lnTo>
                  <a:lnTo>
                    <a:pt x="358896" y="267106"/>
                  </a:lnTo>
                  <a:lnTo>
                    <a:pt x="0" y="26710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358896" cy="267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448" y="14531"/>
            <a:ext cx="1344457" cy="1214703"/>
            <a:chOff x="0" y="0"/>
            <a:chExt cx="3403359" cy="307489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403346" cy="3074924"/>
            </a:xfrm>
            <a:custGeom>
              <a:avLst/>
              <a:gdLst/>
              <a:ahLst/>
              <a:cxnLst/>
              <a:rect l="l" t="t" r="r" b="b"/>
              <a:pathLst>
                <a:path w="3403346" h="3074924">
                  <a:moveTo>
                    <a:pt x="0" y="0"/>
                  </a:moveTo>
                  <a:lnTo>
                    <a:pt x="3403346" y="0"/>
                  </a:lnTo>
                  <a:lnTo>
                    <a:pt x="3403346" y="3074924"/>
                  </a:lnTo>
                  <a:lnTo>
                    <a:pt x="0" y="3074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05682" y="520293"/>
            <a:ext cx="5245916" cy="4693230"/>
          </a:xfrm>
          <a:custGeom>
            <a:avLst/>
            <a:gdLst/>
            <a:ahLst/>
            <a:cxnLst/>
            <a:rect l="l" t="t" r="r" b="b"/>
            <a:pathLst>
              <a:path w="5245916" h="4693230">
                <a:moveTo>
                  <a:pt x="0" y="0"/>
                </a:moveTo>
                <a:lnTo>
                  <a:pt x="5245916" y="0"/>
                </a:lnTo>
                <a:lnTo>
                  <a:pt x="5245916" y="4693229"/>
                </a:lnTo>
                <a:lnTo>
                  <a:pt x="0" y="46932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957" r="-223045" b="-12476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528670" y="5510272"/>
            <a:ext cx="4999940" cy="4700318"/>
          </a:xfrm>
          <a:custGeom>
            <a:avLst/>
            <a:gdLst/>
            <a:ahLst/>
            <a:cxnLst/>
            <a:rect l="l" t="t" r="r" b="b"/>
            <a:pathLst>
              <a:path w="4999940" h="4700318">
                <a:moveTo>
                  <a:pt x="0" y="0"/>
                </a:moveTo>
                <a:lnTo>
                  <a:pt x="4999940" y="0"/>
                </a:lnTo>
                <a:lnTo>
                  <a:pt x="4999940" y="4700318"/>
                </a:lnTo>
                <a:lnTo>
                  <a:pt x="0" y="47003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304640" y="223544"/>
            <a:ext cx="7048970" cy="5286728"/>
          </a:xfrm>
          <a:custGeom>
            <a:avLst/>
            <a:gdLst/>
            <a:ahLst/>
            <a:cxnLst/>
            <a:rect l="l" t="t" r="r" b="b"/>
            <a:pathLst>
              <a:path w="7048970" h="5286728">
                <a:moveTo>
                  <a:pt x="0" y="0"/>
                </a:moveTo>
                <a:lnTo>
                  <a:pt x="7048970" y="0"/>
                </a:lnTo>
                <a:lnTo>
                  <a:pt x="7048970" y="5286728"/>
                </a:lnTo>
                <a:lnTo>
                  <a:pt x="0" y="52867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478203" y="5510272"/>
            <a:ext cx="5097924" cy="4776728"/>
          </a:xfrm>
          <a:custGeom>
            <a:avLst/>
            <a:gdLst/>
            <a:ahLst/>
            <a:cxnLst/>
            <a:rect l="l" t="t" r="r" b="b"/>
            <a:pathLst>
              <a:path w="5097924" h="4776728">
                <a:moveTo>
                  <a:pt x="0" y="0"/>
                </a:moveTo>
                <a:lnTo>
                  <a:pt x="5097924" y="0"/>
                </a:lnTo>
                <a:lnTo>
                  <a:pt x="5097924" y="4776728"/>
                </a:lnTo>
                <a:lnTo>
                  <a:pt x="0" y="47767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0558" r="-213789" b="-12700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7386" y="1996950"/>
            <a:ext cx="7723413" cy="1023747"/>
            <a:chOff x="0" y="0"/>
            <a:chExt cx="10297884" cy="13649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97886" cy="1365000"/>
            </a:xfrm>
            <a:custGeom>
              <a:avLst/>
              <a:gdLst/>
              <a:ahLst/>
              <a:cxnLst/>
              <a:rect l="l" t="t" r="r" b="b"/>
              <a:pathLst>
                <a:path w="10297886" h="1365000">
                  <a:moveTo>
                    <a:pt x="0" y="0"/>
                  </a:moveTo>
                  <a:lnTo>
                    <a:pt x="10297886" y="0"/>
                  </a:lnTo>
                  <a:lnTo>
                    <a:pt x="10297886" y="1365000"/>
                  </a:lnTo>
                  <a:lnTo>
                    <a:pt x="0" y="136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999" b="-96999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0297884" cy="13935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7964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972300" y="9534525"/>
            <a:ext cx="4806001" cy="547649"/>
            <a:chOff x="0" y="0"/>
            <a:chExt cx="6408001" cy="7301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08000" cy="730200"/>
            </a:xfrm>
            <a:custGeom>
              <a:avLst/>
              <a:gdLst/>
              <a:ahLst/>
              <a:cxnLst/>
              <a:rect l="l" t="t" r="r" b="b"/>
              <a:pathLst>
                <a:path w="6408000" h="730200">
                  <a:moveTo>
                    <a:pt x="0" y="0"/>
                  </a:moveTo>
                  <a:lnTo>
                    <a:pt x="6408000" y="0"/>
                  </a:lnTo>
                  <a:lnTo>
                    <a:pt x="64080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94" b="-120994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6408001" cy="7301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Vikasit Nagpur 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2007337" cy="1813607"/>
            <a:chOff x="0" y="0"/>
            <a:chExt cx="3403359" cy="307489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03346" cy="3074924"/>
            </a:xfrm>
            <a:custGeom>
              <a:avLst/>
              <a:gdLst/>
              <a:ahLst/>
              <a:cxnLst/>
              <a:rect l="l" t="t" r="r" b="b"/>
              <a:pathLst>
                <a:path w="3403346" h="3074924">
                  <a:moveTo>
                    <a:pt x="0" y="0"/>
                  </a:moveTo>
                  <a:lnTo>
                    <a:pt x="3403346" y="0"/>
                  </a:lnTo>
                  <a:lnTo>
                    <a:pt x="3403346" y="3074924"/>
                  </a:lnTo>
                  <a:lnTo>
                    <a:pt x="0" y="3074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4252946" y="60450"/>
            <a:ext cx="8972293" cy="1936499"/>
            <a:chOff x="0" y="0"/>
            <a:chExt cx="11963057" cy="258199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963019" cy="2582037"/>
            </a:xfrm>
            <a:custGeom>
              <a:avLst/>
              <a:gdLst/>
              <a:ahLst/>
              <a:cxnLst/>
              <a:rect l="l" t="t" r="r" b="b"/>
              <a:pathLst>
                <a:path w="11963019" h="2582037">
                  <a:moveTo>
                    <a:pt x="0" y="0"/>
                  </a:moveTo>
                  <a:lnTo>
                    <a:pt x="11963019" y="0"/>
                  </a:lnTo>
                  <a:lnTo>
                    <a:pt x="11963019" y="2582037"/>
                  </a:lnTo>
                  <a:lnTo>
                    <a:pt x="0" y="2582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2620" b="-22618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2726634" y="3123882"/>
            <a:ext cx="12024916" cy="3915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5" lvl="1" indent="-302257" algn="l">
              <a:lnSpc>
                <a:spcPts val="4479"/>
              </a:lnSpc>
              <a:buFont typeface="Arial"/>
              <a:buChar char="•"/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ATRW Dataset – Tiger re-identification using stripe patterns</a:t>
            </a:r>
          </a:p>
          <a:p>
            <a:pPr marL="604515" lvl="1" indent="-302257" algn="l">
              <a:lnSpc>
                <a:spcPts val="4479"/>
              </a:lnSpc>
              <a:buFont typeface="Arial"/>
              <a:buChar char="•"/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MobileNetV3 – Lightweight CNN for efficient image classification</a:t>
            </a:r>
          </a:p>
          <a:p>
            <a:pPr marL="604515" lvl="1" indent="-302257" algn="l">
              <a:lnSpc>
                <a:spcPts val="4479"/>
              </a:lnSpc>
              <a:buFont typeface="Arial"/>
              <a:buChar char="•"/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Minimum Convex Polygon (MCP) – Tiger home-range estimation</a:t>
            </a:r>
          </a:p>
          <a:p>
            <a:pPr marL="604515" lvl="1" indent="-302257" algn="l">
              <a:lnSpc>
                <a:spcPts val="4479"/>
              </a:lnSpc>
              <a:buFont typeface="Arial"/>
              <a:buChar char="•"/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WII / NTCA Protocols – Camera-trap monitoring guidelines</a:t>
            </a:r>
          </a:p>
          <a:p>
            <a:pPr marL="604515" lvl="1" indent="-302257" algn="l">
              <a:lnSpc>
                <a:spcPts val="4479"/>
              </a:lnSpc>
              <a:buFont typeface="Arial"/>
              <a:buChar char="•"/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Pench Tiger Reserve Data – Local tiger distribution &amp; camera-trap records</a:t>
            </a:r>
          </a:p>
          <a:p>
            <a:pPr marL="604515" lvl="1" indent="-302257" algn="l">
              <a:lnSpc>
                <a:spcPts val="4479"/>
              </a:lnSpc>
              <a:buFont typeface="Arial"/>
              <a:buChar char="•"/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Camera-Trap Image Processing – Blank-image detection and filtering</a:t>
            </a:r>
          </a:p>
          <a:p>
            <a:pPr marL="604515" lvl="1" indent="-302257" algn="l">
              <a:lnSpc>
                <a:spcPts val="4479"/>
              </a:lnSpc>
              <a:buFont typeface="Arial"/>
              <a:buChar char="•"/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Human-in-the-Loop Validation – Manual review of uncertain tiger matches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</Words>
  <Application>Microsoft Office PowerPoint</Application>
  <PresentationFormat>Custom</PresentationFormat>
  <Paragraphs>43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Calibri</vt:lpstr>
      <vt:lpstr>Times New Roman Bold</vt:lpstr>
      <vt:lpstr>Arial</vt:lpstr>
      <vt:lpstr>Canva Sans Bold</vt:lpstr>
      <vt:lpstr>Oswald Bold</vt:lpstr>
      <vt:lpstr>Oswald</vt:lpstr>
      <vt:lpstr>Horizon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hackathon-ideathon-ppt-format (1).pptx</dc:title>
  <cp:lastModifiedBy>Aditya Thakare</cp:lastModifiedBy>
  <cp:revision>2</cp:revision>
  <dcterms:created xsi:type="dcterms:W3CDTF">2006-08-16T00:00:00Z</dcterms:created>
  <dcterms:modified xsi:type="dcterms:W3CDTF">2026-08-18T03:21:20Z</dcterms:modified>
  <dc:identifier>DAHShW4NwWo</dc:identifier>
</cp:coreProperties>
</file>